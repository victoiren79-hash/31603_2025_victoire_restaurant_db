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900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297680" cy="6858000"/>
          </a:xfrm>
          <a:prstGeom prst="rect">
            <a:avLst/>
          </a:prstGeom>
          <a:solidFill>
            <a:srgbClr val="7A000D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83001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1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DPR400210 · CAPSTONE FINAL EXAMINATION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87452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BITE &amp; GRILL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7589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CF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Oracle Database System for Restaurant Ordering &amp; Management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977640"/>
            <a:ext cx="2011680" cy="0"/>
          </a:xfrm>
          <a:prstGeom prst="line">
            <a:avLst/>
          </a:prstGeom>
          <a:noFill/>
          <a:ln w="25400">
            <a:solidFill>
              <a:srgbClr val="FFD1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25196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FFD1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Student: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[Your Full Name]
</a:t>
            </a:r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FFD1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ID: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2210_2025_[YourName]_Restaurant_DB
</a:t>
            </a:r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FFD1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Instructor: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Eric Maniraguha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6035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1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Bite &amp; Grill 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Oracle 19c database system for a restaurant: menu, customers, orders, auditing, and business-rule enforcement — accessed through a controlled PL/SQL API and demonstrated with a live web ordering interface.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34440" y="278892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— categories, menu_items, customers, orders, order_audit, holidays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502920" cy="50292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234440" y="356616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PL/SQL program units in order_management_pkg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389120"/>
            <a:ext cx="502920" cy="50292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234440" y="434340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 — audit trail + business-rule enforcement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040880" y="1371600"/>
            <a:ext cx="4572000" cy="4846320"/>
          </a:xfrm>
          <a:prstGeom prst="roundRect">
            <a:avLst>
              <a:gd name="adj" fmla="val 2400"/>
            </a:avLst>
          </a:prstGeom>
          <a:solidFill>
            <a:srgbClr val="2F3C7E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640" y="16916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E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06640" y="210312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restaurants track orders on paper — slow, error-prone, and impossible to audit. Bite &amp; Grill replaces that with a normalized schema and rules enforced at the database layer, not just in app code that can be bypassed.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06640" y="4114800"/>
            <a:ext cx="3840480" cy="0"/>
          </a:xfrm>
          <a:prstGeom prst="line">
            <a:avLst/>
          </a:prstGeom>
          <a:noFill/>
          <a:ln w="12700">
            <a:solidFill>
              <a:srgbClr val="5566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429768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D8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write goes through one PL/SQL package — so every write is validated and audited.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475720" y="65379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Tickets Don't Scale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8D5D5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5623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capture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754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taken by phone or in person, then hand-written — every step adds delay and transcription error.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600200"/>
            <a:ext cx="52578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8D5D5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874520"/>
            <a:ext cx="457200" cy="45720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086600" y="185623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audit trail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2468880"/>
            <a:ext cx="4754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an order or its status is changed, there is no record of what it used to be, who changed it, or when.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2578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8D5D5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206240"/>
            <a:ext cx="457200" cy="45720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63040" y="418795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enforced rules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4800600"/>
            <a:ext cx="4754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policy (e.g. no changes outside opening hours) lives only in staff memory, not in the system.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931920"/>
            <a:ext cx="52578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8D5D5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4206240"/>
            <a:ext cx="457200" cy="45720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086600" y="418795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sales visibility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46520" y="4800600"/>
            <a:ext cx="4754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 can't see daily totals or order volume without manually adding up paper tickets.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75720" y="65379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Eight-Phase Build Process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371600" cy="1737360"/>
          </a:xfrm>
          <a:prstGeom prst="roundRect">
            <a:avLst>
              <a:gd name="adj" fmla="val 5333"/>
            </a:avLst>
          </a:prstGeom>
          <a:solidFill>
            <a:srgbClr val="99001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2128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301752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043684" y="2103120"/>
            <a:ext cx="1371600" cy="1737360"/>
          </a:xfrm>
          <a:prstGeom prst="roundRect">
            <a:avLst>
              <a:gd name="adj" fmla="val 5333"/>
            </a:avLst>
          </a:prstGeom>
          <a:solidFill>
            <a:srgbClr val="2F3C7E"/>
          </a:solidFill>
          <a:ln/>
        </p:spPr>
      </p:sp>
      <p:sp>
        <p:nvSpPr>
          <p:cNvPr id="8" name="Text 6"/>
          <p:cNvSpPr/>
          <p:nvPr/>
        </p:nvSpPr>
        <p:spPr>
          <a:xfrm>
            <a:off x="2135124" y="22128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153412" y="301752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model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538728" y="2103120"/>
            <a:ext cx="1371600" cy="1737360"/>
          </a:xfrm>
          <a:prstGeom prst="roundRect">
            <a:avLst>
              <a:gd name="adj" fmla="val 5333"/>
            </a:avLst>
          </a:prstGeom>
          <a:solidFill>
            <a:srgbClr val="990011"/>
          </a:solidFill>
          <a:ln/>
        </p:spPr>
      </p:sp>
      <p:sp>
        <p:nvSpPr>
          <p:cNvPr id="11" name="Text 9"/>
          <p:cNvSpPr/>
          <p:nvPr/>
        </p:nvSpPr>
        <p:spPr>
          <a:xfrm>
            <a:off x="3630168" y="22128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48456" y="301752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design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(ERD, 3NF)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33772" y="2103120"/>
            <a:ext cx="1371600" cy="1737360"/>
          </a:xfrm>
          <a:prstGeom prst="roundRect">
            <a:avLst>
              <a:gd name="adj" fmla="val 5333"/>
            </a:avLst>
          </a:prstGeom>
          <a:solidFill>
            <a:srgbClr val="2F3C7E"/>
          </a:solidFill>
          <a:ln/>
        </p:spPr>
      </p:sp>
      <p:sp>
        <p:nvSpPr>
          <p:cNvPr id="14" name="Text 12"/>
          <p:cNvSpPr/>
          <p:nvPr/>
        </p:nvSpPr>
        <p:spPr>
          <a:xfrm>
            <a:off x="5125212" y="22128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143500" y="301752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28816" y="2103120"/>
            <a:ext cx="1371600" cy="1737360"/>
          </a:xfrm>
          <a:prstGeom prst="roundRect">
            <a:avLst>
              <a:gd name="adj" fmla="val 5333"/>
            </a:avLst>
          </a:prstGeom>
          <a:solidFill>
            <a:srgbClr val="990011"/>
          </a:solidFill>
          <a:ln/>
        </p:spPr>
      </p:sp>
      <p:sp>
        <p:nvSpPr>
          <p:cNvPr id="17" name="Text 15"/>
          <p:cNvSpPr/>
          <p:nvPr/>
        </p:nvSpPr>
        <p:spPr>
          <a:xfrm>
            <a:off x="6620256" y="22128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638544" y="301752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23860" y="2103120"/>
            <a:ext cx="1371600" cy="1737360"/>
          </a:xfrm>
          <a:prstGeom prst="roundRect">
            <a:avLst>
              <a:gd name="adj" fmla="val 5333"/>
            </a:avLst>
          </a:prstGeom>
          <a:solidFill>
            <a:srgbClr val="2F3C7E"/>
          </a:solidFill>
          <a:ln/>
        </p:spPr>
      </p:sp>
      <p:sp>
        <p:nvSpPr>
          <p:cNvPr id="20" name="Text 18"/>
          <p:cNvSpPr/>
          <p:nvPr/>
        </p:nvSpPr>
        <p:spPr>
          <a:xfrm>
            <a:off x="8115300" y="22128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133588" y="301752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PL/SQL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programming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518904" y="2103120"/>
            <a:ext cx="1371600" cy="1737360"/>
          </a:xfrm>
          <a:prstGeom prst="roundRect">
            <a:avLst>
              <a:gd name="adj" fmla="val 5333"/>
            </a:avLst>
          </a:prstGeom>
          <a:solidFill>
            <a:srgbClr val="990011"/>
          </a:solidFill>
          <a:ln/>
        </p:spPr>
      </p:sp>
      <p:sp>
        <p:nvSpPr>
          <p:cNvPr id="23" name="Text 21"/>
          <p:cNvSpPr/>
          <p:nvPr/>
        </p:nvSpPr>
        <p:spPr>
          <a:xfrm>
            <a:off x="9610344" y="22128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628632" y="301752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 &amp;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1013948" y="2103120"/>
            <a:ext cx="1371600" cy="1737360"/>
          </a:xfrm>
          <a:prstGeom prst="roundRect">
            <a:avLst>
              <a:gd name="adj" fmla="val 5333"/>
            </a:avLst>
          </a:prstGeom>
          <a:solidFill>
            <a:srgbClr val="2F3C7E"/>
          </a:solidFill>
          <a:ln/>
        </p:spPr>
      </p:sp>
      <p:sp>
        <p:nvSpPr>
          <p:cNvPr id="26" name="Text 24"/>
          <p:cNvSpPr/>
          <p:nvPr/>
        </p:nvSpPr>
        <p:spPr>
          <a:xfrm>
            <a:off x="11105388" y="22128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1123676" y="301752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 &amp;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420624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phase maps directly to the marking scheme, so the deliverables you're reviewing trace 1:1 back to the rubric.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475720" y="65379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Entity–Relationship Model</a:t>
            </a:r>
            <a:endParaRPr lang="en-US" sz="3000" dirty="0"/>
          </a:p>
        </p:txBody>
      </p:sp>
      <p:pic>
        <p:nvPicPr>
          <p:cNvPr id="4" name="Image 0" descr="/home/claude/diagrams/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8229600" cy="46360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371600"/>
            <a:ext cx="2743200" cy="4663440"/>
          </a:xfrm>
          <a:prstGeom prst="roundRect">
            <a:avLst>
              <a:gd name="adj" fmla="val 3333"/>
            </a:avLst>
          </a:prstGeom>
          <a:solidFill>
            <a:srgbClr val="990011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0" y="16002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D1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3NF NORMALIZED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144000" y="1965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entities · single-column surrogate keys · FKs on category, customer, and order.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144000" y="3200400"/>
            <a:ext cx="2286000" cy="0"/>
          </a:xfrm>
          <a:prstGeom prst="line">
            <a:avLst/>
          </a:prstGeom>
          <a:noFill/>
          <a:ln w="12700">
            <a:solidFill>
              <a:srgbClr val="C24A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0" y="3383280"/>
            <a:ext cx="23317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FFE3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customer_name/phone/address are intentionally duplicated on orders — a deliberate trade-off to keep a permanent record even for walk-in orders.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PROCESS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Order to Delivery</a:t>
            </a:r>
            <a:endParaRPr lang="en-US" sz="3000" dirty="0"/>
          </a:p>
        </p:txBody>
      </p:sp>
      <p:pic>
        <p:nvPicPr>
          <p:cNvPr id="4" name="Image 0" descr="/home/claude/diagrams/bpm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298448"/>
            <a:ext cx="6263640" cy="51937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01000" y="1371600"/>
            <a:ext cx="3657600" cy="4846320"/>
          </a:xfrm>
          <a:prstGeom prst="roundRect">
            <a:avLst>
              <a:gd name="adj" fmla="val 2500"/>
            </a:avLst>
          </a:prstGeom>
          <a:solidFill>
            <a:srgbClr val="2F3C7E"/>
          </a:solidFill>
          <a:ln/>
        </p:spPr>
      </p:sp>
      <p:sp>
        <p:nvSpPr>
          <p:cNvPr id="6" name="Text 3"/>
          <p:cNvSpPr/>
          <p:nvPr/>
        </p:nvSpPr>
        <p:spPr>
          <a:xfrm>
            <a:off x="8275320" y="16916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E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CHECKPOINT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75320" y="210312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restrict_weekday_dml fires BEFORE every insert, update, or delete on orders. If it's a weekday or a public holiday, the transaction is rejected with ORA-20010 / ORA-20011 — no matter which client tried to write.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75320" y="4343400"/>
            <a:ext cx="3108960" cy="0"/>
          </a:xfrm>
          <a:prstGeom prst="line">
            <a:avLst/>
          </a:prstGeom>
          <a:noFill/>
          <a:ln w="12700">
            <a:solidFill>
              <a:srgbClr val="5566A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4526280"/>
            <a:ext cx="3108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D8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insert and every status change is captured automatically by AFTER triggers into order_audit.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order_management_pkg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write to ORDERS happens through this package — the single controlled entry point.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0881360" cy="621792"/>
          </a:xfrm>
          <a:prstGeom prst="rect">
            <a:avLst/>
          </a:prstGeom>
          <a:solidFill>
            <a:srgbClr val="F3E3E3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8745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place_order()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18745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F3C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0" y="1874520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Inserts a new order, computes the total, COMMITs, ROLLBACKs on error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53288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update_order_status()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0" y="253288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F3C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0" y="2532888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the order exists, updates status, NO_DATA_FOUND handling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45536"/>
            <a:ext cx="10881360" cy="621792"/>
          </a:xfrm>
          <a:prstGeom prst="rect">
            <a:avLst/>
          </a:prstGeom>
          <a:solidFill>
            <a:srgbClr val="F3E3E3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191256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get_order_details()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19125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F3C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→ REF CURSOR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0" y="3191256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details for one order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384962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get_total_sales()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3849624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F3C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943600" y="3849624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SUM(total_amount), excludes CANCELLED orders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62272"/>
            <a:ext cx="10881360" cy="621792"/>
          </a:xfrm>
          <a:prstGeom prst="rect">
            <a:avLst/>
          </a:prstGeom>
          <a:solidFill>
            <a:srgbClr val="F3E3E3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507992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get_orders_by_status()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66160" y="4507992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F3C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→ REF CURSOR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943600" y="4507992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filtered by status, most recent first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1663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get_daily_orders_report()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51663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F3C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 + explicit CURSOR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43600" y="5166360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Loops today's orders, prints a DBMS_OUTPUT summary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475720" y="65379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AUDITING &amp; SECURITY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 at the Database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25780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E8D5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411480" cy="41148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488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21214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order_insert_audit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463040" y="2441448"/>
            <a:ext cx="4160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INSERT → logs ORDER_CREATED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68680" y="3108960"/>
            <a:ext cx="411480" cy="41148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63040" y="308152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order_audit_trigger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463040" y="3401568"/>
            <a:ext cx="4160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UPDATE OF order_status → logs old/new status + who changed it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68680" y="4251960"/>
            <a:ext cx="4617720" cy="0"/>
          </a:xfrm>
          <a:prstGeom prst="line">
            <a:avLst/>
          </a:prstGeom>
          <a:noFill/>
          <a:ln w="12700">
            <a:solidFill>
              <a:srgbClr val="E8D5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434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restrict_weekday_dml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68680" y="4754880"/>
            <a:ext cx="4617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INSERT/UPDATE/DELETE, FOR EACH ROW — blocks writes on weekdays and on dates found in the new HOLIDAYS reference table, raising ORA-20010 / ORA-20011.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5532120" cy="4663440"/>
          </a:xfrm>
          <a:prstGeom prst="roundRect">
            <a:avLst>
              <a:gd name="adj" fmla="val 1961"/>
            </a:avLst>
          </a:prstGeom>
          <a:solidFill>
            <a:srgbClr val="2F3C7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6916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E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MODEL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148840"/>
            <a:ext cx="49377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D1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REVOKE INSERT, UPDATE, DELETE ON orders FROM PUBLIC
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 direct write access completely.
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D1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restaurant_app_role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granted only EXECUTE on order_management_pkg and SELECT on orders.
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8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package runs with definer's rights, a session with only that role can still place and update orders — but only through the package, which guarantees the business rule and the audit trail apply to every single write.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475720" y="65379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&amp; INNOVATION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Ordering Interface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Python web app (app.py) drives the Oracle package live — no ORM, no framework, every call visible.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8D5D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40280"/>
            <a:ext cx="457200" cy="45720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222199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renders live from MENU_ITEMS / CATEGORIES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51960" y="196596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990011"/>
          </a:solidFill>
          <a:ln w="12700">
            <a:solidFill>
              <a:srgbClr val="E8D5D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2402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00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166360" y="222199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26280" y="28803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E3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/api/order calls place_order() — never a raw INSERT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0" y="196596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8D5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2240280"/>
            <a:ext cx="457200" cy="45720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869680" y="222199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0" y="28803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/api/orders shows live status per customer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10789920" cy="1874520"/>
          </a:xfrm>
          <a:prstGeom prst="roundRect">
            <a:avLst>
              <a:gd name="adj" fmla="val 4878"/>
            </a:avLst>
          </a:prstGeom>
          <a:solidFill>
            <a:srgbClr val="2F3C7E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4348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E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DEMONSTRATED LIVE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" y="475488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covers: placing an order, the business-rule trigger rejecting a weekday write, staff progressing an order's status, and the resulting rows in order_audit.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1475720" y="65379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9900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8300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1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772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Complete, Enforced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Database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0"/>
            <a:ext cx="146304" cy="146304"/>
          </a:xfrm>
          <a:prstGeom prst="ellipse">
            <a:avLst/>
          </a:prstGeom>
          <a:solidFill>
            <a:srgbClr val="FFD1D1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3429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3NF-normalized schema across 6 tables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950208"/>
            <a:ext cx="146304" cy="146304"/>
          </a:xfrm>
          <a:prstGeom prst="ellipse">
            <a:avLst/>
          </a:prstGeom>
          <a:solidFill>
            <a:srgbClr val="FFD1D1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90448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writes routed through order_management_pkg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425696"/>
            <a:ext cx="146304" cy="146304"/>
          </a:xfrm>
          <a:prstGeom prst="ellipse">
            <a:avLst/>
          </a:prstGeom>
          <a:solidFill>
            <a:srgbClr val="FFD1D1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437997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rule + full audit trail enforced by triggers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901184"/>
            <a:ext cx="146304" cy="146304"/>
          </a:xfrm>
          <a:prstGeom prst="ellipse">
            <a:avLst/>
          </a:prstGeom>
          <a:solidFill>
            <a:srgbClr val="FFD1D1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85546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table DML revoked — security by grants, not convention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376672"/>
            <a:ext cx="146304" cy="146304"/>
          </a:xfrm>
          <a:prstGeom prst="ellipse">
            <a:avLst/>
          </a:prstGeom>
          <a:solidFill>
            <a:srgbClr val="FFD1D1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3309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Python web interface as the innovation component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035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D1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questions welcome.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75720" y="65379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2026-07-15T00:39:27Z</dcterms:created>
  <dcterms:modified xsi:type="dcterms:W3CDTF">2026-07-15T00:39:27Z</dcterms:modified>
</cp:coreProperties>
</file>